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224" y="-1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052560" y="822960"/>
            <a:ext cx="2194560" cy="2194560"/>
          </a:xfrm>
          <a:prstGeom prst="ellipse">
            <a:avLst/>
          </a:prstGeom>
          <a:solidFill>
            <a:srgbClr val="24C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9966960" y="2194560"/>
            <a:ext cx="1143000" cy="1143000"/>
          </a:xfrm>
          <a:prstGeom prst="ellipse">
            <a:avLst/>
          </a:prstGeom>
          <a:solidFill>
            <a:srgbClr val="5CD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Oval 3"/>
          <p:cNvSpPr/>
          <p:nvPr/>
        </p:nvSpPr>
        <p:spPr>
          <a:xfrm>
            <a:off x="8229600" y="2834640"/>
            <a:ext cx="640080" cy="640080"/>
          </a:xfrm>
          <a:prstGeom prst="ellipse">
            <a:avLst/>
          </a:prstGeom>
          <a:solidFill>
            <a:srgbClr val="FFA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Oval 4"/>
          <p:cNvSpPr/>
          <p:nvPr/>
        </p:nvSpPr>
        <p:spPr>
          <a:xfrm>
            <a:off x="10515600" y="3749039"/>
            <a:ext cx="1463040" cy="1463040"/>
          </a:xfrm>
          <a:prstGeom prst="ellipse">
            <a:avLst/>
          </a:prstGeom>
          <a:solidFill>
            <a:srgbClr val="2D5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6858000" cy="477054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tabLst>
                <a:tab pos="3852863" algn="l"/>
              </a:tabLst>
              <a:defRPr sz="1400" b="1">
                <a:solidFill>
                  <a:srgbClr val="24CBBE"/>
                </a:solidFill>
                <a:latin typeface="Aptos"/>
              </a:defRPr>
            </a:pPr>
            <a:r>
              <a:rPr sz="2800" dirty="0"/>
              <a:t>DATA ANALYSIS &amp; VISUALIZATION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589520" cy="10972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3400" b="1">
                <a:solidFill>
                  <a:srgbClr val="F7FAFF"/>
                </a:solidFill>
                <a:latin typeface="Aptos"/>
              </a:defRPr>
            </a:pPr>
            <a:r>
              <a:rPr dirty="0"/>
              <a:t>INSIGHTVISTA</a:t>
            </a:r>
            <a:br>
              <a:rPr dirty="0"/>
            </a:br>
            <a:r>
              <a:rPr dirty="0"/>
              <a:t>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42032"/>
            <a:ext cx="6858000" cy="353943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400" b="1">
                <a:solidFill>
                  <a:srgbClr val="24CBBE"/>
                </a:solidFill>
                <a:latin typeface="Aptos"/>
              </a:defRPr>
            </a:pPr>
            <a:r>
              <a:rPr sz="2000" dirty="0"/>
              <a:t>TEAM  |  4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017520"/>
            <a:ext cx="6858000" cy="1892826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600" b="0">
                <a:solidFill>
                  <a:srgbClr val="F7FAFF"/>
                </a:solidFill>
                <a:latin typeface="Aptos"/>
              </a:defRPr>
            </a:pPr>
            <a:r>
              <a:rPr sz="2000" dirty="0" smtClean="0"/>
              <a:t>Enrollment </a:t>
            </a:r>
            <a:r>
              <a:rPr sz="2000" dirty="0"/>
              <a:t>numbers</a:t>
            </a:r>
            <a:r>
              <a:rPr sz="2000" dirty="0" smtClean="0"/>
              <a:t>:</a:t>
            </a:r>
            <a:endParaRPr lang="en-IN" sz="2000" dirty="0" smtClean="0"/>
          </a:p>
          <a:p>
            <a:pPr>
              <a:defRPr sz="1600" b="0">
                <a:solidFill>
                  <a:srgbClr val="F7FAFF"/>
                </a:solidFill>
                <a:latin typeface="Aptos"/>
              </a:defRPr>
            </a:pPr>
            <a:r>
              <a:rPr sz="2000" dirty="0"/>
              <a:t/>
            </a:r>
            <a:br>
              <a:rPr sz="2000" dirty="0"/>
            </a:br>
            <a:r>
              <a:rPr lang="en-US" sz="2000" dirty="0" smtClean="0"/>
              <a:t>• </a:t>
            </a:r>
            <a:r>
              <a:rPr sz="2000" dirty="0" smtClean="0"/>
              <a:t>24084011600</a:t>
            </a:r>
            <a:r>
              <a:rPr lang="en-IN" sz="2000" dirty="0" smtClean="0"/>
              <a:t>5</a:t>
            </a:r>
            <a:r>
              <a:rPr sz="2000" dirty="0" smtClean="0"/>
              <a:t> </a:t>
            </a:r>
            <a:endParaRPr lang="en-IN" sz="2000" dirty="0" smtClean="0"/>
          </a:p>
          <a:p>
            <a:pPr>
              <a:defRPr sz="1600" b="0">
                <a:solidFill>
                  <a:srgbClr val="F7FAFF"/>
                </a:solidFill>
                <a:latin typeface="Aptos"/>
              </a:defRPr>
            </a:pPr>
            <a:r>
              <a:rPr lang="en-US" sz="2000" dirty="0" smtClean="0"/>
              <a:t>• </a:t>
            </a:r>
            <a:r>
              <a:rPr sz="2000" dirty="0" smtClean="0"/>
              <a:t>24084011600</a:t>
            </a:r>
            <a:r>
              <a:rPr lang="en-IN" sz="2000" dirty="0" smtClean="0"/>
              <a:t>6</a:t>
            </a:r>
            <a:r>
              <a:rPr sz="2000" dirty="0"/>
              <a:t/>
            </a:r>
            <a:br>
              <a:rPr sz="2000" dirty="0"/>
            </a:br>
            <a:r>
              <a:rPr lang="en-US" sz="2000" dirty="0" smtClean="0"/>
              <a:t>• </a:t>
            </a:r>
            <a:r>
              <a:rPr sz="2000" dirty="0" smtClean="0"/>
              <a:t>240840116034  </a:t>
            </a:r>
            <a:endParaRPr lang="en-IN" sz="2000" dirty="0" smtClean="0"/>
          </a:p>
          <a:p>
            <a:pPr>
              <a:defRPr sz="1600" b="0">
                <a:solidFill>
                  <a:srgbClr val="F7FAFF"/>
                </a:solidFill>
                <a:latin typeface="Aptos"/>
              </a:defRPr>
            </a:pPr>
            <a:r>
              <a:rPr lang="en-US" sz="2000" dirty="0" smtClean="0"/>
              <a:t>• </a:t>
            </a:r>
            <a:r>
              <a:rPr sz="2000" dirty="0" smtClean="0"/>
              <a:t>240840116064</a:t>
            </a:r>
            <a:endParaRPr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3084305" y="5405679"/>
            <a:ext cx="48692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200" dirty="0" smtClean="0">
                <a:solidFill>
                  <a:schemeClr val="bg1"/>
                </a:solidFill>
              </a:rPr>
              <a:t>Data Set:- ORDER_DELIVERY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3891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600" b="1">
                <a:solidFill>
                  <a:srgbClr val="F7FAFF"/>
                </a:solidFill>
                <a:latin typeface="Aptos"/>
              </a:defRPr>
            </a:pPr>
            <a:r>
              <a:rPr dirty="0"/>
              <a:t>Observation &amp; Raw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960120" cy="50292"/>
          </a:xfrm>
          <a:prstGeom prst="rect">
            <a:avLst/>
          </a:prstGeom>
          <a:solidFill>
            <a:srgbClr val="24C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1000" b="1">
                <a:solidFill>
                  <a:srgbClr val="24CBBE"/>
                </a:solidFill>
                <a:latin typeface="Aptos"/>
              </a:defRPr>
            </a:pPr>
            <a:r>
              <a:rPr dirty="0"/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560320" cy="1234440"/>
          </a:xfrm>
          <a:prstGeom prst="roundRect">
            <a:avLst/>
          </a:prstGeom>
          <a:solidFill>
            <a:srgbClr val="1D31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219456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400" b="1">
                <a:solidFill>
                  <a:srgbClr val="24CBBE"/>
                </a:solidFill>
                <a:latin typeface="Aptos"/>
              </a:defRPr>
            </a:pPr>
            <a:r>
              <a:rPr dirty="0"/>
              <a:t>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2194560" cy="61264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000" b="0">
                <a:solidFill>
                  <a:srgbClr val="F7FAFF"/>
                </a:solidFill>
                <a:latin typeface="Aptos"/>
              </a:defRPr>
            </a:pPr>
            <a:r>
              <a:rPr dirty="0"/>
              <a:t>5,589 order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417320"/>
            <a:ext cx="2560320" cy="1234440"/>
          </a:xfrm>
          <a:prstGeom prst="roundRect">
            <a:avLst/>
          </a:prstGeom>
          <a:solidFill>
            <a:srgbClr val="1D31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1554480"/>
            <a:ext cx="219456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400" b="1">
                <a:solidFill>
                  <a:srgbClr val="5CD2E7"/>
                </a:solidFill>
                <a:latin typeface="Aptos"/>
              </a:defRPr>
            </a:pPr>
            <a:r>
              <a:rPr dirty="0"/>
              <a:t>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947672"/>
            <a:ext cx="2194560" cy="61264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000" b="0">
                <a:solidFill>
                  <a:srgbClr val="F7FAFF"/>
                </a:solidFill>
                <a:latin typeface="Aptos"/>
              </a:defRPr>
            </a:pPr>
            <a:r>
              <a:rPr dirty="0"/>
              <a:t>23 fields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417320"/>
            <a:ext cx="2560320" cy="1234440"/>
          </a:xfrm>
          <a:prstGeom prst="roundRect">
            <a:avLst/>
          </a:prstGeom>
          <a:solidFill>
            <a:srgbClr val="1D31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219456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400" b="1">
                <a:solidFill>
                  <a:srgbClr val="6FE0AB"/>
                </a:solidFill>
                <a:latin typeface="Aptos"/>
              </a:defRPr>
            </a:pPr>
            <a:r>
              <a:rPr dirty="0"/>
              <a:t>MISSING 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947672"/>
            <a:ext cx="2194560" cy="61264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000" b="0">
                <a:solidFill>
                  <a:srgbClr val="F7FAFF"/>
                </a:solidFill>
                <a:latin typeface="Aptos"/>
              </a:defRPr>
            </a:pPr>
            <a:r>
              <a:rPr dirty="0"/>
              <a:t>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1417320"/>
            <a:ext cx="2971800" cy="1234440"/>
          </a:xfrm>
          <a:prstGeom prst="roundRect">
            <a:avLst/>
          </a:prstGeom>
          <a:solidFill>
            <a:srgbClr val="1D31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823959" y="1554480"/>
            <a:ext cx="260604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400" b="1">
                <a:solidFill>
                  <a:srgbClr val="FFAE5B"/>
                </a:solidFill>
                <a:latin typeface="Aptos"/>
              </a:defRPr>
            </a:pPr>
            <a:r>
              <a:rPr dirty="0"/>
              <a:t>DUPLICATE 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59" y="1947672"/>
            <a:ext cx="2606040" cy="61264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000" b="0">
                <a:solidFill>
                  <a:srgbClr val="F7FAFF"/>
                </a:solidFill>
                <a:latin typeface="Aptos"/>
              </a:defRPr>
            </a:pPr>
            <a:r>
              <a:rPr dirty="0"/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971800"/>
            <a:ext cx="521208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600" b="1">
                <a:solidFill>
                  <a:srgbClr val="24CBBE"/>
                </a:solidFill>
                <a:latin typeface="Aptos"/>
              </a:defRPr>
            </a:pPr>
            <a:r>
              <a:rPr dirty="0"/>
              <a:t>Fields included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401568"/>
            <a:ext cx="5303520" cy="14773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7FAFF"/>
                </a:solidFill>
                <a:latin typeface="Aptos"/>
              </a:defRPr>
            </a:pPr>
            <a:r>
              <a:rPr dirty="0"/>
              <a:t>•  Order details: </a:t>
            </a:r>
            <a:r>
              <a:rPr dirty="0" err="1"/>
              <a:t>Order_ID</a:t>
            </a:r>
            <a:r>
              <a:rPr dirty="0"/>
              <a:t>, </a:t>
            </a:r>
            <a:r>
              <a:rPr dirty="0" err="1"/>
              <a:t>User_ID</a:t>
            </a:r>
            <a:r>
              <a:rPr dirty="0"/>
              <a:t>, </a:t>
            </a:r>
            <a:r>
              <a:rPr dirty="0" err="1"/>
              <a:t>Item_Name</a:t>
            </a:r>
            <a:r>
              <a:rPr dirty="0"/>
              <a:t>, Quantity, </a:t>
            </a:r>
            <a:r>
              <a:rPr dirty="0" err="1"/>
              <a:t>Total_Price</a:t>
            </a:r>
            <a:endParaRPr dirty="0"/>
          </a:p>
          <a:p>
            <a:pPr>
              <a:spcAft>
                <a:spcPts val="1000"/>
              </a:spcAft>
              <a:defRPr sz="1300">
                <a:solidFill>
                  <a:srgbClr val="F7FAFF"/>
                </a:solidFill>
                <a:latin typeface="Aptos"/>
              </a:defRPr>
            </a:pPr>
            <a:r>
              <a:rPr dirty="0"/>
              <a:t>•  Timing and status: </a:t>
            </a:r>
            <a:r>
              <a:rPr dirty="0" err="1"/>
              <a:t>Order_Time</a:t>
            </a:r>
            <a:r>
              <a:rPr dirty="0"/>
              <a:t>, </a:t>
            </a:r>
            <a:r>
              <a:rPr dirty="0" err="1"/>
              <a:t>Delivery_Time</a:t>
            </a:r>
            <a:r>
              <a:rPr dirty="0"/>
              <a:t>, </a:t>
            </a:r>
            <a:r>
              <a:rPr lang="en-IN" dirty="0" smtClean="0"/>
              <a:t>                </a:t>
            </a:r>
            <a:r>
              <a:rPr dirty="0" err="1" smtClean="0"/>
              <a:t>Delivery_Duration_Minutes</a:t>
            </a:r>
            <a:r>
              <a:rPr dirty="0"/>
              <a:t>, </a:t>
            </a:r>
            <a:r>
              <a:rPr dirty="0" err="1"/>
              <a:t>Order_Status</a:t>
            </a:r>
            <a:endParaRPr dirty="0"/>
          </a:p>
          <a:p>
            <a:pPr>
              <a:spcAft>
                <a:spcPts val="1000"/>
              </a:spcAft>
              <a:defRPr sz="1300">
                <a:solidFill>
                  <a:srgbClr val="F7FAFF"/>
                </a:solidFill>
                <a:latin typeface="Aptos"/>
              </a:defRPr>
            </a:pPr>
            <a:r>
              <a:rPr dirty="0"/>
              <a:t>•  Operations: City, </a:t>
            </a:r>
            <a:r>
              <a:rPr dirty="0" err="1"/>
              <a:t>Payment_Method</a:t>
            </a:r>
            <a:r>
              <a:rPr dirty="0"/>
              <a:t>, </a:t>
            </a:r>
            <a:r>
              <a:rPr dirty="0" err="1"/>
              <a:t>Driver_Vehicle</a:t>
            </a:r>
            <a:r>
              <a:rPr dirty="0"/>
              <a:t>, </a:t>
            </a:r>
            <a:r>
              <a:rPr dirty="0" err="1"/>
              <a:t>Traffic_Level</a:t>
            </a:r>
            <a:endParaRPr dirty="0"/>
          </a:p>
          <a:p>
            <a:pPr>
              <a:spcAft>
                <a:spcPts val="1000"/>
              </a:spcAft>
              <a:defRPr sz="1300">
                <a:solidFill>
                  <a:srgbClr val="F7FAFF"/>
                </a:solidFill>
                <a:latin typeface="Aptos"/>
              </a:defRPr>
            </a:pPr>
            <a:r>
              <a:rPr dirty="0"/>
              <a:t>•  Location: restaurant, customer and driver latitude/longitude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971800"/>
            <a:ext cx="521208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600" b="1">
                <a:solidFill>
                  <a:srgbClr val="24CBBE"/>
                </a:solidFill>
                <a:latin typeface="Aptos"/>
              </a:defRPr>
            </a:pPr>
            <a:r>
              <a:t>Raw data sample (first 3 records)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217920" y="3429000"/>
          <a:ext cx="53492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1188720"/>
                <a:gridCol w="640080"/>
                <a:gridCol w="960120"/>
                <a:gridCol w="960120"/>
                <a:gridCol w="914400"/>
              </a:tblGrid>
              <a:tr h="40005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7FAFF"/>
                          </a:solidFill>
                        </a:defRPr>
                      </a:pPr>
                      <a:r>
                        <a:t>Order_ID</a:t>
                      </a:r>
                    </a:p>
                  </a:txBody>
                  <a:tcPr>
                    <a:solidFill>
                      <a:srgbClr val="2453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7FAFF"/>
                          </a:solidFill>
                        </a:defRPr>
                      </a:pPr>
                      <a:r>
                        <a:t>Item_Name</a:t>
                      </a:r>
                    </a:p>
                  </a:txBody>
                  <a:tcPr>
                    <a:solidFill>
                      <a:srgbClr val="2453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7FAFF"/>
                          </a:solidFill>
                        </a:defRPr>
                      </a:pPr>
                      <a:r>
                        <a:t>Quantity</a:t>
                      </a:r>
                    </a:p>
                  </a:txBody>
                  <a:tcPr>
                    <a:solidFill>
                      <a:srgbClr val="2453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7FAFF"/>
                          </a:solidFill>
                        </a:defRPr>
                      </a:pPr>
                      <a:r>
                        <a:t>Total_Price</a:t>
                      </a:r>
                    </a:p>
                  </a:txBody>
                  <a:tcPr>
                    <a:solidFill>
                      <a:srgbClr val="2453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7FAFF"/>
                          </a:solidFill>
                        </a:defRPr>
                      </a:pPr>
                      <a:r>
                        <a:t>City</a:t>
                      </a:r>
                    </a:p>
                  </a:txBody>
                  <a:tcPr>
                    <a:solidFill>
                      <a:srgbClr val="2453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7FAFF"/>
                          </a:solidFill>
                        </a:defRPr>
                      </a:pPr>
                      <a:r>
                        <a:t>Order_Status</a:t>
                      </a:r>
                    </a:p>
                  </a:txBody>
                  <a:tcPr>
                    <a:solidFill>
                      <a:srgbClr val="24537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7FA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D31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7FAFF"/>
                          </a:solidFill>
                        </a:defRPr>
                      </a:pPr>
                      <a:r>
                        <a:t>Fried Chicken</a:t>
                      </a:r>
                    </a:p>
                  </a:txBody>
                  <a:tcPr>
                    <a:solidFill>
                      <a:srgbClr val="1D31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7FA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D31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7FAFF"/>
                          </a:solidFill>
                        </a:defRPr>
                      </a:pPr>
                      <a:r>
                        <a:t>273.72</a:t>
                      </a:r>
                    </a:p>
                  </a:txBody>
                  <a:tcPr>
                    <a:solidFill>
                      <a:srgbClr val="1D31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7FAFF"/>
                          </a:solidFill>
                        </a:defRPr>
                      </a:pPr>
                      <a:r>
                        <a:t>Alexandria</a:t>
                      </a:r>
                    </a:p>
                  </a:txBody>
                  <a:tcPr>
                    <a:solidFill>
                      <a:srgbClr val="1D31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7FAFF"/>
                          </a:solidFill>
                        </a:defRPr>
                      </a:pPr>
                      <a:r>
                        <a:t>Delivered</a:t>
                      </a:r>
                    </a:p>
                  </a:txBody>
                  <a:tcPr>
                    <a:solidFill>
                      <a:srgbClr val="1D315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7FA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D31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7FAFF"/>
                          </a:solidFill>
                        </a:defRPr>
                      </a:pPr>
                      <a:r>
                        <a:t>Sandwich</a:t>
                      </a:r>
                    </a:p>
                  </a:txBody>
                  <a:tcPr>
                    <a:solidFill>
                      <a:srgbClr val="1D31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7FA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D31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7FAFF"/>
                          </a:solidFill>
                        </a:defRPr>
                      </a:pPr>
                      <a:r>
                        <a:t>365.82</a:t>
                      </a:r>
                    </a:p>
                  </a:txBody>
                  <a:tcPr>
                    <a:solidFill>
                      <a:srgbClr val="1D31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7FAFF"/>
                          </a:solidFill>
                        </a:defRPr>
                      </a:pPr>
                      <a:r>
                        <a:t>Zagazig</a:t>
                      </a:r>
                    </a:p>
                  </a:txBody>
                  <a:tcPr>
                    <a:solidFill>
                      <a:srgbClr val="1D31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7FAFF"/>
                          </a:solidFill>
                        </a:defRPr>
                      </a:pPr>
                      <a:r>
                        <a:t>Delivered</a:t>
                      </a:r>
                    </a:p>
                  </a:txBody>
                  <a:tcPr>
                    <a:solidFill>
                      <a:srgbClr val="1D315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7FA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D31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7FAFF"/>
                          </a:solidFill>
                        </a:defRPr>
                      </a:pPr>
                      <a:r>
                        <a:t>Koshary</a:t>
                      </a:r>
                    </a:p>
                  </a:txBody>
                  <a:tcPr>
                    <a:solidFill>
                      <a:srgbClr val="1D31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7FA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D31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7FAFF"/>
                          </a:solidFill>
                        </a:defRPr>
                      </a:pPr>
                      <a:r>
                        <a:t>401.94</a:t>
                      </a:r>
                    </a:p>
                  </a:txBody>
                  <a:tcPr>
                    <a:solidFill>
                      <a:srgbClr val="1D31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7FAFF"/>
                          </a:solidFill>
                        </a:defRPr>
                      </a:pPr>
                      <a:r>
                        <a:t>Assiut</a:t>
                      </a:r>
                    </a:p>
                  </a:txBody>
                  <a:tcPr>
                    <a:solidFill>
                      <a:srgbClr val="1D31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7FAFF"/>
                          </a:solidFill>
                        </a:defRPr>
                      </a:pPr>
                      <a:r>
                        <a:t>In Transit</a:t>
                      </a:r>
                    </a:p>
                  </a:txBody>
                  <a:tcPr>
                    <a:solidFill>
                      <a:srgbClr val="1D3150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794933" y="6045200"/>
            <a:ext cx="7864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Dataset overview: 7 cities, 9 item types, 3 payment methods and 3 order statuses.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3891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600" b="1">
                <a:solidFill>
                  <a:srgbClr val="F7FAFF"/>
                </a:solidFill>
                <a:latin typeface="Aptos"/>
              </a:defRPr>
            </a:pPr>
            <a:r>
              <a:t>Final Dataset: Preparation Steps &amp; Reasons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960120" cy="50292"/>
          </a:xfrm>
          <a:prstGeom prst="rect">
            <a:avLst/>
          </a:prstGeom>
          <a:solidFill>
            <a:srgbClr val="24C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1000" b="1">
                <a:solidFill>
                  <a:srgbClr val="24CB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94960" cy="1234440"/>
          </a:xfrm>
          <a:prstGeom prst="roundRect">
            <a:avLst/>
          </a:prstGeom>
          <a:solidFill>
            <a:srgbClr val="1D31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502920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400" b="1">
                <a:solidFill>
                  <a:srgbClr val="24CBBE"/>
                </a:solidFill>
                <a:latin typeface="Aptos"/>
              </a:defRPr>
            </a:pPr>
            <a:r>
              <a:t>01  Inspect 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47672"/>
            <a:ext cx="5029200" cy="612648"/>
          </a:xfrm>
          <a:prstGeom prst="rect">
            <a:avLst/>
          </a:prstGeom>
          <a:noFill/>
        </p:spPr>
        <p:txBody>
          <a:bodyPr wrap="square" lIns="0" tIns="12700" rIns="0" bIns="0">
            <a:spAutoFit/>
          </a:bodyPr>
          <a:lstStyle/>
          <a:p>
            <a:pPr>
              <a:spcAft>
                <a:spcPts val="400"/>
              </a:spcAft>
              <a:defRPr sz="1150" b="0">
                <a:solidFill>
                  <a:srgbClr val="F5F7FC"/>
                </a:solidFill>
                <a:latin typeface="Aptos"/>
              </a:defRPr>
            </a:pPr>
            <a:r>
              <a:t>Confirm 5,589 rows and 23 columns; verify field names and standardized data types.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>
                <a:solidFill>
                  <a:srgbClr val="3FDCCB"/>
                </a:solidFill>
                <a:latin typeface="Consolas"/>
              </a:defRPr>
            </a:pPr>
            <a:r>
              <a:t>Colab: df.shape; df.columns.tolist()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394960" cy="1234440"/>
          </a:xfrm>
          <a:prstGeom prst="roundRect">
            <a:avLst/>
          </a:prstGeom>
          <a:solidFill>
            <a:srgbClr val="1D31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502920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400" b="1">
                <a:solidFill>
                  <a:srgbClr val="5CD2E7"/>
                </a:solidFill>
                <a:latin typeface="Aptos"/>
              </a:defRPr>
            </a:pPr>
            <a:r>
              <a:t>02  Validate completeness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47672"/>
            <a:ext cx="5029200" cy="612648"/>
          </a:xfrm>
          <a:prstGeom prst="rect">
            <a:avLst/>
          </a:prstGeom>
          <a:noFill/>
        </p:spPr>
        <p:txBody>
          <a:bodyPr wrap="square" lIns="0" tIns="12700" rIns="0" bIns="0">
            <a:spAutoFit/>
          </a:bodyPr>
          <a:lstStyle/>
          <a:p>
            <a:pPr>
              <a:spcAft>
                <a:spcPts val="400"/>
              </a:spcAft>
              <a:defRPr sz="1150" b="0">
                <a:solidFill>
                  <a:srgbClr val="F5F7FC"/>
                </a:solidFill>
                <a:latin typeface="Aptos"/>
              </a:defRPr>
            </a:pPr>
            <a:r>
              <a:t>Check missing cells and exact duplicate rows before deciding whether to remove records.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>
                <a:solidFill>
                  <a:srgbClr val="3FDCCB"/>
                </a:solidFill>
                <a:latin typeface="Consolas"/>
              </a:defRPr>
            </a:pPr>
            <a:r>
              <a:t>Colab: df.isna().sum().sum(); df.duplicated().sum()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926080"/>
            <a:ext cx="5394960" cy="1234440"/>
          </a:xfrm>
          <a:prstGeom prst="roundRect">
            <a:avLst/>
          </a:prstGeom>
          <a:solidFill>
            <a:srgbClr val="1D31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063240"/>
            <a:ext cx="502920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400" b="1">
                <a:solidFill>
                  <a:srgbClr val="24CBBE"/>
                </a:solidFill>
                <a:latin typeface="Aptos"/>
              </a:defRPr>
            </a:pPr>
            <a:r>
              <a:t>03  Standardize types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56432"/>
            <a:ext cx="5029200" cy="612648"/>
          </a:xfrm>
          <a:prstGeom prst="rect">
            <a:avLst/>
          </a:prstGeom>
          <a:noFill/>
        </p:spPr>
        <p:txBody>
          <a:bodyPr wrap="square" lIns="0" tIns="12700" rIns="0" bIns="0">
            <a:spAutoFit/>
          </a:bodyPr>
          <a:lstStyle/>
          <a:p>
            <a:pPr>
              <a:spcAft>
                <a:spcPts val="400"/>
              </a:spcAft>
              <a:defRPr sz="1150" b="0">
                <a:solidFill>
                  <a:srgbClr val="F5F7FC"/>
                </a:solidFill>
                <a:latin typeface="Aptos"/>
              </a:defRPr>
            </a:pPr>
            <a:r>
              <a:t>Convert Order_Time and Delivery_Time to datetime; keep IDs as identifiers and numeric measures as numbers.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>
                <a:solidFill>
                  <a:srgbClr val="3FDCCB"/>
                </a:solidFill>
                <a:latin typeface="Consolas"/>
              </a:defRPr>
            </a:pPr>
            <a:r>
              <a:t>Colab: df["Order_Time"] = pd.to_datetime(df["Order_Time"])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926080"/>
            <a:ext cx="5394960" cy="1234440"/>
          </a:xfrm>
          <a:prstGeom prst="roundRect">
            <a:avLst/>
          </a:prstGeom>
          <a:solidFill>
            <a:srgbClr val="1D31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063240"/>
            <a:ext cx="502920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400" b="1">
                <a:solidFill>
                  <a:srgbClr val="5CD2E7"/>
                </a:solidFill>
                <a:latin typeface="Aptos"/>
              </a:defRPr>
            </a:pPr>
            <a:r>
              <a:t>04  Validate business logic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456432"/>
            <a:ext cx="5029200" cy="612648"/>
          </a:xfrm>
          <a:prstGeom prst="rect">
            <a:avLst/>
          </a:prstGeom>
          <a:noFill/>
        </p:spPr>
        <p:txBody>
          <a:bodyPr wrap="square" lIns="0" tIns="12700" rIns="0" bIns="0">
            <a:spAutoFit/>
          </a:bodyPr>
          <a:lstStyle/>
          <a:p>
            <a:pPr>
              <a:spcAft>
                <a:spcPts val="400"/>
              </a:spcAft>
              <a:defRPr sz="1150" b="0">
                <a:solidFill>
                  <a:srgbClr val="F5F7FC"/>
                </a:solidFill>
                <a:latin typeface="Aptos"/>
              </a:defRPr>
            </a:pPr>
            <a:r>
              <a:t>Check positive quantities/prices/distances, valid status labels and delivery time consistency.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>
                <a:solidFill>
                  <a:srgbClr val="3FDCCB"/>
                </a:solidFill>
                <a:latin typeface="Consolas"/>
              </a:defRPr>
            </a:pPr>
            <a:r>
              <a:t>Colab: df = df[(df["Quantity"] &gt; 0) &amp; (df["Total_Price"] &gt; 0)]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434840"/>
            <a:ext cx="5394960" cy="1234440"/>
          </a:xfrm>
          <a:prstGeom prst="roundRect">
            <a:avLst/>
          </a:prstGeom>
          <a:solidFill>
            <a:srgbClr val="1D31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572000"/>
            <a:ext cx="502920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400" b="1">
                <a:solidFill>
                  <a:srgbClr val="24CBBE"/>
                </a:solidFill>
                <a:latin typeface="Aptos"/>
              </a:defRPr>
            </a:pPr>
            <a:r>
              <a:t>05  Add analysis fields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965192"/>
            <a:ext cx="5029200" cy="612648"/>
          </a:xfrm>
          <a:prstGeom prst="rect">
            <a:avLst/>
          </a:prstGeom>
          <a:noFill/>
        </p:spPr>
        <p:txBody>
          <a:bodyPr wrap="square" lIns="0" tIns="12700" rIns="0" bIns="0">
            <a:spAutoFit/>
          </a:bodyPr>
          <a:lstStyle/>
          <a:p>
            <a:pPr>
              <a:spcAft>
                <a:spcPts val="400"/>
              </a:spcAft>
              <a:defRPr sz="1150" b="0">
                <a:solidFill>
                  <a:srgbClr val="F5F7FC"/>
                </a:solidFill>
                <a:latin typeface="Aptos"/>
              </a:defRPr>
            </a:pPr>
            <a:r>
              <a:t>Create order date, order hour, delivery duration bands and delivery success flag where useful.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>
                <a:solidFill>
                  <a:srgbClr val="3FDCCB"/>
                </a:solidFill>
                <a:latin typeface="Consolas"/>
              </a:defRPr>
            </a:pPr>
            <a:r>
              <a:t>Colab: df["Order_Hour"] = df.Order_Time.dt.hour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434840"/>
            <a:ext cx="5394960" cy="1234440"/>
          </a:xfrm>
          <a:prstGeom prst="roundRect">
            <a:avLst/>
          </a:prstGeom>
          <a:solidFill>
            <a:srgbClr val="1D31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4572000"/>
            <a:ext cx="502920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400" b="1">
                <a:solidFill>
                  <a:srgbClr val="5CD2E7"/>
                </a:solidFill>
                <a:latin typeface="Aptos"/>
              </a:defRPr>
            </a:pPr>
            <a:r>
              <a:t>06  Load final 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965192"/>
            <a:ext cx="5029200" cy="612648"/>
          </a:xfrm>
          <a:prstGeom prst="rect">
            <a:avLst/>
          </a:prstGeom>
          <a:noFill/>
        </p:spPr>
        <p:txBody>
          <a:bodyPr wrap="square" lIns="0" tIns="12700" rIns="0" bIns="0">
            <a:spAutoFit/>
          </a:bodyPr>
          <a:lstStyle/>
          <a:p>
            <a:pPr>
              <a:spcAft>
                <a:spcPts val="400"/>
              </a:spcAft>
              <a:defRPr sz="1150" b="0">
                <a:solidFill>
                  <a:srgbClr val="F5F7FC"/>
                </a:solidFill>
                <a:latin typeface="Aptos"/>
              </a:defRPr>
            </a:pPr>
            <a:r>
              <a:t>Keep a documented, reproducible clean table for Power BI visuals and measures.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>
                <a:solidFill>
                  <a:srgbClr val="3FDCCB"/>
                </a:solidFill>
                <a:latin typeface="Consolas"/>
              </a:defRPr>
            </a:pPr>
            <a:r>
              <a:t>Colab: df.to_csv("cleaned_orders.csv", index=False)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3891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600" b="1">
                <a:solidFill>
                  <a:srgbClr val="F7FAFF"/>
                </a:solidFill>
                <a:latin typeface="Aptos"/>
              </a:defRPr>
            </a:pPr>
            <a:r>
              <a:t>Clean Dataset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960120" cy="50292"/>
          </a:xfrm>
          <a:prstGeom prst="rect">
            <a:avLst/>
          </a:prstGeom>
          <a:solidFill>
            <a:srgbClr val="24C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1000" b="1">
                <a:solidFill>
                  <a:srgbClr val="24CB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520440" cy="1869180"/>
          </a:xfrm>
          <a:prstGeom prst="roundRect">
            <a:avLst/>
          </a:prstGeom>
          <a:solidFill>
            <a:srgbClr val="1D31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315468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400" b="1">
                <a:solidFill>
                  <a:srgbClr val="6FE0AB"/>
                </a:solidFill>
                <a:latin typeface="Aptos"/>
              </a:defRPr>
            </a:pPr>
            <a:r>
              <a:t>QUALITY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47672"/>
            <a:ext cx="3154680" cy="7955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0">
                <a:solidFill>
                  <a:srgbClr val="F7FAFF"/>
                </a:solidFill>
                <a:latin typeface="Aptos"/>
              </a:defRPr>
            </a:pPr>
            <a:r>
              <a:t>✓ 5,589 records retained</a:t>
            </a:r>
            <a:br/>
            <a:r>
              <a:t>✓ 23 columns retained</a:t>
            </a:r>
            <a:br/>
            <a:r>
              <a:t>✓ 0 null cells found</a:t>
            </a:r>
            <a:br/>
            <a:r>
              <a:t>✓ 0 exact duplicate 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520440" cy="1986280"/>
          </a:xfrm>
          <a:prstGeom prst="roundRect">
            <a:avLst/>
          </a:prstGeom>
          <a:solidFill>
            <a:srgbClr val="1D31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1554480"/>
            <a:ext cx="315468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400" b="1">
                <a:solidFill>
                  <a:srgbClr val="5CD2E7"/>
                </a:solidFill>
                <a:latin typeface="Aptos"/>
              </a:defRPr>
            </a:pPr>
            <a:r>
              <a:t>TRANSFORMATIONS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947672"/>
            <a:ext cx="3154680" cy="7955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400" b="0">
                <a:solidFill>
                  <a:srgbClr val="F7FAFF"/>
                </a:solidFill>
                <a:latin typeface="Aptos"/>
              </a:defRPr>
            </a:pPr>
            <a:r>
              <a:t>• Verify standardized order/delivery timestamps</a:t>
            </a:r>
            <a:br/>
            <a:r>
              <a:t>• Trim text spaces and standardize labels</a:t>
            </a:r>
            <a:br/>
            <a:r>
              <a:t>• Confirm numeric data types</a:t>
            </a:r>
            <a:br/>
            <a:r>
              <a:t>• Validate ranges and outliers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17320"/>
            <a:ext cx="3520440" cy="1986280"/>
          </a:xfrm>
          <a:prstGeom prst="roundRect">
            <a:avLst/>
          </a:prstGeom>
          <a:solidFill>
            <a:srgbClr val="1D31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19" y="1554480"/>
            <a:ext cx="315468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400" b="1">
                <a:solidFill>
                  <a:srgbClr val="24CBBE"/>
                </a:solidFill>
                <a:latin typeface="Aptos"/>
              </a:defRPr>
            </a:pPr>
            <a:r>
              <a:t>POWER BI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1947672"/>
            <a:ext cx="3154680" cy="13388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400" b="0">
                <a:solidFill>
                  <a:srgbClr val="F7FAFF"/>
                </a:solidFill>
                <a:latin typeface="Aptos"/>
              </a:defRPr>
            </a:pPr>
            <a:r>
              <a:rPr dirty="0"/>
              <a:t>• Fact table: Orders</a:t>
            </a:r>
            <a:br>
              <a:rPr dirty="0"/>
            </a:br>
            <a:r>
              <a:rPr dirty="0"/>
              <a:t>• Measures: </a:t>
            </a:r>
            <a:r>
              <a:rPr lang="en-IN" dirty="0" smtClean="0"/>
              <a:t>Count of Order id , Sum of total price, </a:t>
            </a:r>
            <a:r>
              <a:rPr lang="en-IN" dirty="0" err="1" smtClean="0"/>
              <a:t>avg</a:t>
            </a:r>
            <a:r>
              <a:rPr lang="en-IN" dirty="0" smtClean="0"/>
              <a:t> of </a:t>
            </a:r>
            <a:r>
              <a:rPr lang="en-IN" dirty="0" err="1" smtClean="0"/>
              <a:t>delevery_duration</a:t>
            </a:r>
            <a:r>
              <a:rPr lang="en-IN" dirty="0" smtClean="0"/>
              <a:t> </a:t>
            </a:r>
            <a:r>
              <a:rPr dirty="0"/>
              <a:t/>
            </a:r>
            <a:br>
              <a:rPr dirty="0"/>
            </a:br>
            <a:r>
              <a:rPr dirty="0"/>
              <a:t>• Dimensions: city, item, payment, </a:t>
            </a:r>
            <a:r>
              <a:rPr dirty="0" smtClean="0"/>
              <a:t>status</a:t>
            </a:r>
            <a:r>
              <a:rPr lang="en-IN" dirty="0" smtClean="0"/>
              <a:t>,</a:t>
            </a:r>
            <a:r>
              <a:rPr lang="en-IN" dirty="0" err="1" smtClean="0"/>
              <a:t>Traffic_Level</a:t>
            </a:r>
            <a:r>
              <a:rPr dirty="0"/>
              <a:t/>
            </a:r>
            <a:br>
              <a:rPr dirty="0"/>
            </a:br>
            <a:r>
              <a:rPr dirty="0"/>
              <a:t>• Date/time fields for trend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3703320"/>
            <a:ext cx="12191999" cy="41549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600" b="1">
                <a:solidFill>
                  <a:srgbClr val="24CBBE"/>
                </a:solidFill>
                <a:latin typeface="Aptos"/>
              </a:defRPr>
            </a:pPr>
            <a:r>
              <a:rPr sz="2400" dirty="0"/>
              <a:t>Recommended final columns / derived fields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" y="4366260"/>
            <a:ext cx="12191998" cy="14619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7FAFF"/>
                </a:solidFill>
                <a:latin typeface="Aptos"/>
              </a:defRPr>
            </a:pPr>
            <a:r>
              <a:rPr sz="1600" dirty="0"/>
              <a:t>•  </a:t>
            </a:r>
            <a:r>
              <a:rPr lang="en-IN" sz="1600" dirty="0" smtClean="0"/>
              <a:t>Count of </a:t>
            </a:r>
            <a:r>
              <a:rPr lang="en-IN" sz="1600" dirty="0" err="1" smtClean="0"/>
              <a:t>Order_ID</a:t>
            </a:r>
            <a:r>
              <a:rPr lang="en-IN" sz="1600" dirty="0" smtClean="0"/>
              <a:t> by city</a:t>
            </a:r>
            <a:endParaRPr sz="1600" dirty="0"/>
          </a:p>
          <a:p>
            <a:pPr>
              <a:spcAft>
                <a:spcPts val="1000"/>
              </a:spcAft>
              <a:defRPr sz="1300">
                <a:solidFill>
                  <a:srgbClr val="F7FAFF"/>
                </a:solidFill>
                <a:latin typeface="Aptos"/>
              </a:defRPr>
            </a:pPr>
            <a:r>
              <a:rPr sz="1600" dirty="0"/>
              <a:t>•  </a:t>
            </a:r>
            <a:r>
              <a:rPr lang="en-IN" sz="1600" dirty="0" smtClean="0"/>
              <a:t>Count of </a:t>
            </a:r>
            <a:r>
              <a:rPr lang="en-IN" sz="1600" dirty="0" err="1" smtClean="0"/>
              <a:t>Order_ID</a:t>
            </a:r>
            <a:r>
              <a:rPr lang="en-IN" sz="1600" dirty="0" smtClean="0"/>
              <a:t> by </a:t>
            </a:r>
            <a:r>
              <a:rPr lang="en-IN" sz="1600" dirty="0" err="1" smtClean="0"/>
              <a:t>Order_Status</a:t>
            </a:r>
            <a:r>
              <a:rPr lang="en-IN" sz="1600" dirty="0" smtClean="0"/>
              <a:t> </a:t>
            </a:r>
            <a:endParaRPr sz="1600" dirty="0"/>
          </a:p>
          <a:p>
            <a:pPr>
              <a:spcAft>
                <a:spcPts val="1000"/>
              </a:spcAft>
              <a:defRPr sz="1300">
                <a:solidFill>
                  <a:srgbClr val="F7FAFF"/>
                </a:solidFill>
                <a:latin typeface="Aptos"/>
              </a:defRPr>
            </a:pPr>
            <a:r>
              <a:rPr sz="1600" dirty="0" smtClean="0"/>
              <a:t>•</a:t>
            </a:r>
            <a:r>
              <a:rPr lang="en-IN" sz="1600" dirty="0" smtClean="0"/>
              <a:t> </a:t>
            </a:r>
            <a:r>
              <a:rPr lang="en-IN" sz="1600" dirty="0" smtClean="0"/>
              <a:t> Filter of </a:t>
            </a:r>
            <a:r>
              <a:rPr lang="en-IN" sz="1600" dirty="0" err="1" smtClean="0"/>
              <a:t>Order_Status</a:t>
            </a:r>
            <a:r>
              <a:rPr lang="en-IN" sz="1600" dirty="0" smtClean="0"/>
              <a:t> and City</a:t>
            </a:r>
            <a:endParaRPr sz="1600" dirty="0"/>
          </a:p>
          <a:p>
            <a:pPr>
              <a:spcAft>
                <a:spcPts val="1000"/>
              </a:spcAft>
              <a:defRPr sz="1300">
                <a:solidFill>
                  <a:srgbClr val="F7FAFF"/>
                </a:solidFill>
                <a:latin typeface="Aptos"/>
              </a:defRPr>
            </a:pPr>
            <a:r>
              <a:rPr sz="1600" dirty="0"/>
              <a:t>•  </a:t>
            </a:r>
            <a:r>
              <a:rPr lang="en-IN" sz="1600" dirty="0" smtClean="0"/>
              <a:t>Sum of </a:t>
            </a:r>
            <a:r>
              <a:rPr lang="en-IN" sz="1600" dirty="0" err="1" smtClean="0"/>
              <a:t>T</a:t>
            </a:r>
            <a:r>
              <a:rPr lang="en-IN" sz="1600" dirty="0" err="1" smtClean="0"/>
              <a:t>otal_price</a:t>
            </a:r>
            <a:r>
              <a:rPr lang="en-IN" sz="1600" dirty="0" smtClean="0"/>
              <a:t> by </a:t>
            </a:r>
            <a:r>
              <a:rPr lang="en-IN" sz="1600" dirty="0" err="1" smtClean="0"/>
              <a:t>Item_Name</a:t>
            </a:r>
            <a:endParaRPr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155680" cy="43891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600" b="1">
                <a:solidFill>
                  <a:srgbClr val="F7FAFF"/>
                </a:solidFill>
                <a:latin typeface="Aptos"/>
              </a:defRPr>
            </a:pPr>
            <a:r>
              <a:t>Visualization — Power BI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960120" cy="50292"/>
          </a:xfrm>
          <a:prstGeom prst="rect">
            <a:avLst/>
          </a:prstGeom>
          <a:solidFill>
            <a:srgbClr val="24C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1000" b="1">
                <a:solidFill>
                  <a:srgbClr val="24CBBE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15" name="Picture 14" descr="ppt dashboar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3826"/>
            <a:ext cx="12192000" cy="589417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51338" y="2911044"/>
            <a:ext cx="11169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 smtClean="0"/>
              <a:t>Cluster chart</a:t>
            </a:r>
            <a:endParaRPr lang="en-US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6350000" y="3107267"/>
            <a:ext cx="1309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Donut chart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9677400" y="3107267"/>
            <a:ext cx="1112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Line chart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2429933" y="5080000"/>
            <a:ext cx="1745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Cluster bar chart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281263" y="5115467"/>
            <a:ext cx="1378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Scatter chart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9855201" y="5080000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Bar chart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3891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600" b="1">
                <a:solidFill>
                  <a:srgbClr val="F7FAFF"/>
                </a:solidFill>
                <a:latin typeface="Aptos"/>
              </a:defRPr>
            </a:pPr>
            <a:r>
              <a:t>Observations &amp; Business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960120" cy="50292"/>
          </a:xfrm>
          <a:prstGeom prst="rect">
            <a:avLst/>
          </a:prstGeom>
          <a:solidFill>
            <a:srgbClr val="24C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1000" b="1">
                <a:solidFill>
                  <a:srgbClr val="24CBB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2606040" cy="1234440"/>
          </a:xfrm>
          <a:prstGeom prst="roundRect">
            <a:avLst/>
          </a:prstGeom>
          <a:solidFill>
            <a:srgbClr val="1D31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224028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400" b="1">
                <a:solidFill>
                  <a:srgbClr val="24CBBE"/>
                </a:solidFill>
                <a:latin typeface="Aptos"/>
              </a:defRPr>
            </a:pPr>
            <a:r>
              <a:t>TOTAL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2240280" cy="61264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200" b="0">
                <a:solidFill>
                  <a:srgbClr val="F7FAFF"/>
                </a:solidFill>
                <a:latin typeface="Aptos"/>
              </a:defRPr>
            </a:pPr>
            <a:r>
              <a:t>5,589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371600"/>
            <a:ext cx="2606040" cy="1234440"/>
          </a:xfrm>
          <a:prstGeom prst="roundRect">
            <a:avLst/>
          </a:prstGeom>
          <a:solidFill>
            <a:srgbClr val="1D31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0440" y="1508760"/>
            <a:ext cx="224028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400" b="1">
                <a:solidFill>
                  <a:srgbClr val="6FE0AB"/>
                </a:solidFill>
                <a:latin typeface="Aptos"/>
              </a:defRPr>
            </a:pPr>
            <a:r>
              <a:t>DELIVERED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901952"/>
            <a:ext cx="2240280" cy="61264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700" b="0">
                <a:solidFill>
                  <a:srgbClr val="F7FAFF"/>
                </a:solidFill>
                <a:latin typeface="Aptos"/>
              </a:defRPr>
            </a:pPr>
            <a:r>
              <a:t>4,774  (85.4%)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71600"/>
            <a:ext cx="2606040" cy="1234440"/>
          </a:xfrm>
          <a:prstGeom prst="roundRect">
            <a:avLst/>
          </a:prstGeom>
          <a:solidFill>
            <a:srgbClr val="1D31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508760"/>
            <a:ext cx="224028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400" b="1">
                <a:solidFill>
                  <a:srgbClr val="FFAE5B"/>
                </a:solidFill>
                <a:latin typeface="Aptos"/>
              </a:defRPr>
            </a:pPr>
            <a:r>
              <a:t>CANCELLED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901952"/>
            <a:ext cx="2240280" cy="61264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700" b="0">
                <a:solidFill>
                  <a:srgbClr val="F7FAFF"/>
                </a:solidFill>
                <a:latin typeface="Aptos"/>
              </a:defRPr>
            </a:pPr>
            <a:r>
              <a:t>560  (10.0%)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371600"/>
            <a:ext cx="2697480" cy="1234440"/>
          </a:xfrm>
          <a:prstGeom prst="roundRect">
            <a:avLst/>
          </a:prstGeom>
          <a:solidFill>
            <a:srgbClr val="1D31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06840" y="1508760"/>
            <a:ext cx="233172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400" b="1">
                <a:solidFill>
                  <a:srgbClr val="5CD2E7"/>
                </a:solidFill>
                <a:latin typeface="Aptos"/>
              </a:defRPr>
            </a:pPr>
            <a:r>
              <a:t>AVG 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901952"/>
            <a:ext cx="2331720" cy="61264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100" b="0">
                <a:solidFill>
                  <a:srgbClr val="F7FAFF"/>
                </a:solidFill>
                <a:latin typeface="Aptos"/>
              </a:defRPr>
            </a:pPr>
            <a:r>
              <a:t>37.4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69733"/>
            <a:ext cx="10698480" cy="275973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7FAFF"/>
                </a:solidFill>
                <a:latin typeface="Aptos"/>
              </a:defRPr>
            </a:pPr>
            <a:r>
              <a:rPr sz="2000" dirty="0" smtClean="0"/>
              <a:t>•  Typical order value: 268.28 (dataset currency not specified); average quantity is 3.0 items.</a:t>
            </a:r>
          </a:p>
          <a:p>
            <a:pPr>
              <a:spcAft>
                <a:spcPts val="1000"/>
              </a:spcAft>
              <a:defRPr sz="1500">
                <a:solidFill>
                  <a:srgbClr val="F7FAFF"/>
                </a:solidFill>
                <a:latin typeface="Aptos"/>
              </a:defRPr>
            </a:pPr>
            <a:r>
              <a:rPr sz="2000" dirty="0" smtClean="0"/>
              <a:t>•  Average delivery distance is 2.19 km; use distance bands to compare time and order status.</a:t>
            </a:r>
          </a:p>
          <a:p>
            <a:pPr>
              <a:spcAft>
                <a:spcPts val="1000"/>
              </a:spcAft>
              <a:defRPr sz="1500">
                <a:solidFill>
                  <a:srgbClr val="F7FAFF"/>
                </a:solidFill>
                <a:latin typeface="Aptos"/>
              </a:defRPr>
            </a:pPr>
            <a:r>
              <a:rPr sz="2000" dirty="0" smtClean="0"/>
              <a:t>•  </a:t>
            </a:r>
            <a:r>
              <a:rPr sz="2000" dirty="0" err="1" smtClean="0"/>
              <a:t>Zagazig</a:t>
            </a:r>
            <a:r>
              <a:rPr sz="2000" dirty="0" smtClean="0"/>
              <a:t> has the highest order count (813); compare staffing and demand by city.</a:t>
            </a:r>
          </a:p>
          <a:p>
            <a:pPr>
              <a:spcAft>
                <a:spcPts val="1000"/>
              </a:spcAft>
              <a:defRPr sz="1500">
                <a:solidFill>
                  <a:srgbClr val="F7FAFF"/>
                </a:solidFill>
                <a:latin typeface="Aptos"/>
              </a:defRPr>
            </a:pPr>
            <a:r>
              <a:rPr sz="2000" dirty="0" smtClean="0"/>
              <a:t>•  </a:t>
            </a:r>
            <a:r>
              <a:rPr sz="2000" dirty="0" err="1" smtClean="0"/>
              <a:t>Mansoura</a:t>
            </a:r>
            <a:r>
              <a:rPr sz="2000" dirty="0" smtClean="0"/>
              <a:t> has the longest average delivery duration (38.1 minutes); investigate route, traffic </a:t>
            </a:r>
            <a:r>
              <a:rPr lang="en-IN" sz="2000" dirty="0" smtClean="0"/>
              <a:t>          </a:t>
            </a:r>
            <a:r>
              <a:rPr sz="2000" dirty="0" smtClean="0"/>
              <a:t>and driver allocation.</a:t>
            </a:r>
          </a:p>
          <a:p>
            <a:pPr>
              <a:spcAft>
                <a:spcPts val="1000"/>
              </a:spcAft>
              <a:defRPr sz="1500">
                <a:solidFill>
                  <a:srgbClr val="F7FAFF"/>
                </a:solidFill>
                <a:latin typeface="Aptos"/>
              </a:defRPr>
            </a:pPr>
            <a:r>
              <a:rPr sz="2000" dirty="0" smtClean="0"/>
              <a:t>•  </a:t>
            </a:r>
            <a:r>
              <a:rPr sz="2000" dirty="0" err="1" smtClean="0"/>
              <a:t>Koshary</a:t>
            </a:r>
            <a:r>
              <a:rPr sz="2000" dirty="0" smtClean="0"/>
              <a:t> contributes the highest total sales value in this dataset; validate with a product revenue visual.</a:t>
            </a:r>
            <a:endParaRPr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1387" y="228600"/>
            <a:ext cx="11155680" cy="43891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600" b="1">
                <a:solidFill>
                  <a:srgbClr val="F7FAFF"/>
                </a:solidFill>
                <a:latin typeface="Aptos"/>
              </a:defRPr>
            </a:pPr>
            <a:r>
              <a:t>Business Recommendations &amp; Industrial 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960120" cy="50292"/>
          </a:xfrm>
          <a:prstGeom prst="rect">
            <a:avLst/>
          </a:prstGeom>
          <a:solidFill>
            <a:srgbClr val="24C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1000" b="1">
                <a:solidFill>
                  <a:srgbClr val="24CBB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5394960" cy="1828800"/>
          </a:xfrm>
          <a:prstGeom prst="roundRect">
            <a:avLst/>
          </a:prstGeom>
          <a:solidFill>
            <a:srgbClr val="1D31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502920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400" b="1">
                <a:solidFill>
                  <a:srgbClr val="24CBBE"/>
                </a:solidFill>
                <a:latin typeface="Aptos"/>
              </a:defRPr>
            </a:pPr>
            <a:r>
              <a:t>FOR FOOD DELIVERY BUSINESSES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5029200" cy="1207007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400" b="0">
                <a:solidFill>
                  <a:srgbClr val="F7FAFF"/>
                </a:solidFill>
                <a:latin typeface="Aptos"/>
              </a:defRPr>
            </a:pPr>
            <a:r>
              <a:t>• Forecast demand by city, item and hour</a:t>
            </a:r>
            <a:br/>
            <a:r>
              <a:t>• Schedule more drivers during demand peaks</a:t>
            </a:r>
            <a:br/>
            <a:r>
              <a:t>• Monitor cancellation rate and delivery SLA</a:t>
            </a:r>
            <a:br/>
            <a:r>
              <a:t>• Compare delivery time by distance and vehicle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94960" cy="1828800"/>
          </a:xfrm>
          <a:prstGeom prst="roundRect">
            <a:avLst/>
          </a:prstGeom>
          <a:solidFill>
            <a:srgbClr val="1D31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02920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400" b="1">
                <a:solidFill>
                  <a:srgbClr val="5CD2E7"/>
                </a:solidFill>
                <a:latin typeface="Aptos"/>
              </a:defRPr>
            </a:pPr>
            <a:r>
              <a:t>FOR OPERATIONS &amp; LOGISTICS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01952"/>
            <a:ext cx="5029200" cy="907941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400" b="0">
                <a:solidFill>
                  <a:srgbClr val="F7FAFF"/>
                </a:solidFill>
                <a:latin typeface="Aptos"/>
              </a:defRPr>
            </a:pPr>
            <a:r>
              <a:rPr dirty="0"/>
              <a:t>• Optimize delivery zones and route assignment</a:t>
            </a:r>
            <a:br>
              <a:rPr dirty="0"/>
            </a:br>
            <a:r>
              <a:rPr dirty="0"/>
              <a:t>• Track driver availability and utilization</a:t>
            </a:r>
            <a:br>
              <a:rPr dirty="0"/>
            </a:br>
            <a:r>
              <a:rPr dirty="0"/>
              <a:t>• Use alerts for unusually long deliveries</a:t>
            </a:r>
            <a:br>
              <a:rPr dirty="0"/>
            </a:br>
            <a:r>
              <a:rPr dirty="0"/>
              <a:t>• Compare actual performance </a:t>
            </a:r>
            <a:r>
              <a:rPr lang="en-IN" dirty="0" smtClean="0"/>
              <a:t>with use of KPIs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594360" y="3474720"/>
            <a:ext cx="5394960" cy="1828800"/>
          </a:xfrm>
          <a:prstGeom prst="roundRect">
            <a:avLst/>
          </a:prstGeom>
          <a:solidFill>
            <a:srgbClr val="1D31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611879"/>
            <a:ext cx="502920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400" b="1">
                <a:solidFill>
                  <a:srgbClr val="6FE0AB"/>
                </a:solidFill>
                <a:latin typeface="Aptos"/>
              </a:defRPr>
            </a:pPr>
            <a:r>
              <a:t>INDUSTRIAL APPLICATIONS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05072"/>
            <a:ext cx="5029200" cy="1207007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400" b="0">
                <a:solidFill>
                  <a:srgbClr val="F7FAFF"/>
                </a:solidFill>
                <a:latin typeface="Aptos"/>
              </a:defRPr>
            </a:pPr>
            <a:r>
              <a:t>• Last-mile logistics and courier services</a:t>
            </a:r>
            <a:br/>
            <a:r>
              <a:t>• Retail/e-commerce order fulfilment</a:t>
            </a:r>
            <a:br/>
            <a:r>
              <a:t>• Restaurant chains and cloud kitchens</a:t>
            </a:r>
            <a:br/>
            <a:r>
              <a:t>• Fleet management and urban planning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474720"/>
            <a:ext cx="5394960" cy="1828800"/>
          </a:xfrm>
          <a:prstGeom prst="roundRect">
            <a:avLst/>
          </a:prstGeom>
          <a:solidFill>
            <a:srgbClr val="1D31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3611879"/>
            <a:ext cx="502920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400" b="1">
                <a:solidFill>
                  <a:srgbClr val="FFAE5B"/>
                </a:solidFill>
                <a:latin typeface="Aptos"/>
              </a:defRPr>
            </a:pPr>
            <a:r>
              <a:t>NEXT STEPS / KPIs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005072"/>
            <a:ext cx="5029200" cy="1207007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400" b="0">
                <a:solidFill>
                  <a:srgbClr val="F7FAFF"/>
                </a:solidFill>
                <a:latin typeface="Aptos"/>
              </a:defRPr>
            </a:pPr>
            <a:r>
              <a:rPr dirty="0"/>
              <a:t>• Set target: delivery time and cancellation rate</a:t>
            </a:r>
            <a:br>
              <a:rPr dirty="0"/>
            </a:br>
            <a:r>
              <a:rPr dirty="0"/>
              <a:t>• Test changes city-by-city before scaling</a:t>
            </a:r>
            <a:br>
              <a:rPr dirty="0"/>
            </a:br>
            <a:r>
              <a:rPr dirty="0"/>
              <a:t>• Review weekly trends, not one-day results</a:t>
            </a:r>
            <a:br>
              <a:rPr dirty="0"/>
            </a:br>
            <a:r>
              <a:rPr dirty="0"/>
              <a:t>• Track revenue, on-time rate and cost per order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57200"/>
            <a:ext cx="11247120" cy="54864"/>
          </a:xfrm>
          <a:prstGeom prst="rect">
            <a:avLst/>
          </a:prstGeom>
          <a:solidFill>
            <a:srgbClr val="24C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47120" cy="54864"/>
          </a:xfrm>
          <a:prstGeom prst="rect">
            <a:avLst/>
          </a:prstGeom>
          <a:solidFill>
            <a:srgbClr val="24C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10972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3800" b="1">
                <a:solidFill>
                  <a:srgbClr val="F7FA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502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2000" b="1">
                <a:solidFill>
                  <a:srgbClr val="24CBBE"/>
                </a:solidFill>
                <a:latin typeface="Aptos"/>
              </a:defRPr>
            </a:pPr>
            <a:r>
              <a:t>4 INSIGHTS  |  INSIGHTVISTA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3703320"/>
            <a:ext cx="8412480" cy="907941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800" b="0">
                <a:solidFill>
                  <a:srgbClr val="B3C2D8"/>
                </a:solidFill>
                <a:latin typeface="Aptos"/>
              </a:defRPr>
            </a:pPr>
            <a:r>
              <a:rPr sz="2800" dirty="0"/>
              <a:t>From raw data to clearer decisions.</a:t>
            </a:r>
            <a:br>
              <a:rPr sz="2800" dirty="0"/>
            </a:br>
            <a:r>
              <a:rPr sz="2800" dirty="0"/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669280"/>
            <a:ext cx="9966960" cy="353943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0">
                <a:solidFill>
                  <a:srgbClr val="F7FAFF"/>
                </a:solidFill>
                <a:latin typeface="Aptos"/>
              </a:defRPr>
            </a:pPr>
            <a:r>
              <a:rPr sz="2000" dirty="0"/>
              <a:t>Data Analysis and Visualization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573</Words>
  <Application>Microsoft Office PowerPoint</Application>
  <PresentationFormat>Custom</PresentationFormat>
  <Paragraphs>119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Prizal Ghevariya</cp:lastModifiedBy>
  <cp:revision>18</cp:revision>
  <dcterms:created xsi:type="dcterms:W3CDTF">2013-01-27T09:14:16Z</dcterms:created>
  <dcterms:modified xsi:type="dcterms:W3CDTF">2026-10-12T09:26:45Z</dcterms:modified>
  <cp:category/>
</cp:coreProperties>
</file>